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3" d="100"/>
          <a:sy n="113" d="100"/>
        </p:scale>
        <p:origin x="8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5CA4920-F7D6-4344-8AE6-6825E358A124}" type="datetimeFigureOut">
              <a:rPr lang="en-US" smtClean="0"/>
              <a:t>1/22/2020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625CDE-28F1-4654-9E8F-CEDCA4B3838A}" type="slidenum">
              <a:rPr lang="en-US" smtClean="0"/>
              <a:t>‹#›</a:t>
            </a:fld>
            <a:endParaRPr lang="en-US"/>
          </a:p>
        </p:txBody>
      </p:sp>
    </p:spTree>
    <p:extLst>
      <p:ext uri="{BB962C8B-B14F-4D97-AF65-F5344CB8AC3E}">
        <p14:creationId xmlns:p14="http://schemas.microsoft.com/office/powerpoint/2010/main" val="2743087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5CA4920-F7D6-4344-8AE6-6825E358A124}" type="datetimeFigureOut">
              <a:rPr lang="en-US" smtClean="0"/>
              <a:t>1/22/2020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625CDE-28F1-4654-9E8F-CEDCA4B3838A}" type="slidenum">
              <a:rPr lang="en-US" smtClean="0"/>
              <a:t>‹#›</a:t>
            </a:fld>
            <a:endParaRPr lang="en-US"/>
          </a:p>
        </p:txBody>
      </p:sp>
    </p:spTree>
    <p:extLst>
      <p:ext uri="{BB962C8B-B14F-4D97-AF65-F5344CB8AC3E}">
        <p14:creationId xmlns:p14="http://schemas.microsoft.com/office/powerpoint/2010/main" val="436774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5CA4920-F7D6-4344-8AE6-6825E358A124}" type="datetimeFigureOut">
              <a:rPr lang="en-US" smtClean="0"/>
              <a:t>1/22/2020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625CDE-28F1-4654-9E8F-CEDCA4B3838A}" type="slidenum">
              <a:rPr lang="en-US" smtClean="0"/>
              <a:t>‹#›</a:t>
            </a:fld>
            <a:endParaRPr lang="en-US"/>
          </a:p>
        </p:txBody>
      </p:sp>
    </p:spTree>
    <p:extLst>
      <p:ext uri="{BB962C8B-B14F-4D97-AF65-F5344CB8AC3E}">
        <p14:creationId xmlns:p14="http://schemas.microsoft.com/office/powerpoint/2010/main" val="2184899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5CA4920-F7D6-4344-8AE6-6825E358A124}" type="datetimeFigureOut">
              <a:rPr lang="en-US" smtClean="0"/>
              <a:t>1/22/2020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625CDE-28F1-4654-9E8F-CEDCA4B3838A}" type="slidenum">
              <a:rPr lang="en-US" smtClean="0"/>
              <a:t>‹#›</a:t>
            </a:fld>
            <a:endParaRPr lang="en-US"/>
          </a:p>
        </p:txBody>
      </p:sp>
    </p:spTree>
    <p:extLst>
      <p:ext uri="{BB962C8B-B14F-4D97-AF65-F5344CB8AC3E}">
        <p14:creationId xmlns:p14="http://schemas.microsoft.com/office/powerpoint/2010/main" val="1912572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5CA4920-F7D6-4344-8AE6-6825E358A124}" type="datetimeFigureOut">
              <a:rPr lang="en-US" smtClean="0"/>
              <a:t>1/22/2020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625CDE-28F1-4654-9E8F-CEDCA4B3838A}" type="slidenum">
              <a:rPr lang="en-US" smtClean="0"/>
              <a:t>‹#›</a:t>
            </a:fld>
            <a:endParaRPr lang="en-US"/>
          </a:p>
        </p:txBody>
      </p:sp>
    </p:spTree>
    <p:extLst>
      <p:ext uri="{BB962C8B-B14F-4D97-AF65-F5344CB8AC3E}">
        <p14:creationId xmlns:p14="http://schemas.microsoft.com/office/powerpoint/2010/main" val="788217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5CA4920-F7D6-4344-8AE6-6825E358A124}" type="datetimeFigureOut">
              <a:rPr lang="en-US" smtClean="0"/>
              <a:t>1/22/2020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625CDE-28F1-4654-9E8F-CEDCA4B3838A}" type="slidenum">
              <a:rPr lang="en-US" smtClean="0"/>
              <a:t>‹#›</a:t>
            </a:fld>
            <a:endParaRPr lang="en-US"/>
          </a:p>
        </p:txBody>
      </p:sp>
    </p:spTree>
    <p:extLst>
      <p:ext uri="{BB962C8B-B14F-4D97-AF65-F5344CB8AC3E}">
        <p14:creationId xmlns:p14="http://schemas.microsoft.com/office/powerpoint/2010/main" val="2843882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CA4920-F7D6-4344-8AE6-6825E358A124}" type="datetimeFigureOut">
              <a:rPr lang="en-US" smtClean="0"/>
              <a:t>1/22/2020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B625CDE-28F1-4654-9E8F-CEDCA4B3838A}" type="slidenum">
              <a:rPr lang="en-US" smtClean="0"/>
              <a:t>‹#›</a:t>
            </a:fld>
            <a:endParaRPr lang="en-US"/>
          </a:p>
        </p:txBody>
      </p:sp>
    </p:spTree>
    <p:extLst>
      <p:ext uri="{BB962C8B-B14F-4D97-AF65-F5344CB8AC3E}">
        <p14:creationId xmlns:p14="http://schemas.microsoft.com/office/powerpoint/2010/main" val="3859555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5CA4920-F7D6-4344-8AE6-6825E358A124}" type="datetimeFigureOut">
              <a:rPr lang="en-US" smtClean="0"/>
              <a:t>1/22/2020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625CDE-28F1-4654-9E8F-CEDCA4B3838A}" type="slidenum">
              <a:rPr lang="en-US" smtClean="0"/>
              <a:t>‹#›</a:t>
            </a:fld>
            <a:endParaRPr lang="en-US"/>
          </a:p>
        </p:txBody>
      </p:sp>
    </p:spTree>
    <p:extLst>
      <p:ext uri="{BB962C8B-B14F-4D97-AF65-F5344CB8AC3E}">
        <p14:creationId xmlns:p14="http://schemas.microsoft.com/office/powerpoint/2010/main" val="2346743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5CA4920-F7D6-4344-8AE6-6825E358A124}" type="datetimeFigureOut">
              <a:rPr lang="en-US" smtClean="0"/>
              <a:t>1/22/2020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625CDE-28F1-4654-9E8F-CEDCA4B3838A}" type="slidenum">
              <a:rPr lang="en-US" smtClean="0"/>
              <a:t>‹#›</a:t>
            </a:fld>
            <a:endParaRPr lang="en-US"/>
          </a:p>
        </p:txBody>
      </p:sp>
    </p:spTree>
    <p:extLst>
      <p:ext uri="{BB962C8B-B14F-4D97-AF65-F5344CB8AC3E}">
        <p14:creationId xmlns:p14="http://schemas.microsoft.com/office/powerpoint/2010/main" val="1319007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5CA4920-F7D6-4344-8AE6-6825E358A124}" type="datetimeFigureOut">
              <a:rPr lang="en-US" smtClean="0"/>
              <a:t>1/22/2020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625CDE-28F1-4654-9E8F-CEDCA4B3838A}" type="slidenum">
              <a:rPr lang="en-US" smtClean="0"/>
              <a:t>‹#›</a:t>
            </a:fld>
            <a:endParaRPr lang="en-US"/>
          </a:p>
        </p:txBody>
      </p:sp>
    </p:spTree>
    <p:extLst>
      <p:ext uri="{BB962C8B-B14F-4D97-AF65-F5344CB8AC3E}">
        <p14:creationId xmlns:p14="http://schemas.microsoft.com/office/powerpoint/2010/main" val="846659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5CA4920-F7D6-4344-8AE6-6825E358A124}" type="datetimeFigureOut">
              <a:rPr lang="en-US" smtClean="0"/>
              <a:t>1/22/2020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625CDE-28F1-4654-9E8F-CEDCA4B3838A}" type="slidenum">
              <a:rPr lang="en-US" smtClean="0"/>
              <a:t>‹#›</a:t>
            </a:fld>
            <a:endParaRPr lang="en-US"/>
          </a:p>
        </p:txBody>
      </p:sp>
    </p:spTree>
    <p:extLst>
      <p:ext uri="{BB962C8B-B14F-4D97-AF65-F5344CB8AC3E}">
        <p14:creationId xmlns:p14="http://schemas.microsoft.com/office/powerpoint/2010/main" val="3535522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CA4920-F7D6-4344-8AE6-6825E358A124}" type="datetimeFigureOut">
              <a:rPr lang="en-US" smtClean="0"/>
              <a:t>1/22/2020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625CDE-28F1-4654-9E8F-CEDCA4B3838A}" type="slidenum">
              <a:rPr lang="en-US" smtClean="0"/>
              <a:t>‹#›</a:t>
            </a:fld>
            <a:endParaRPr lang="en-US"/>
          </a:p>
        </p:txBody>
      </p:sp>
    </p:spTree>
    <p:extLst>
      <p:ext uri="{BB962C8B-B14F-4D97-AF65-F5344CB8AC3E}">
        <p14:creationId xmlns:p14="http://schemas.microsoft.com/office/powerpoint/2010/main" val="37623847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gif"/><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t="10846" b="33115"/>
          <a:stretch/>
        </p:blipFill>
        <p:spPr>
          <a:xfrm>
            <a:off x="-101601" y="369986"/>
            <a:ext cx="14763750" cy="448360"/>
          </a:xfrm>
          <a:prstGeom prst="rect">
            <a:avLst/>
          </a:prstGeom>
        </p:spPr>
      </p:pic>
      <p:pic>
        <p:nvPicPr>
          <p:cNvPr id="5" name="Picture 4"/>
          <p:cNvPicPr>
            <a:picLocks noChangeAspect="1"/>
          </p:cNvPicPr>
          <p:nvPr/>
        </p:nvPicPr>
        <p:blipFill rotWithShape="1">
          <a:blip r:embed="rId3"/>
          <a:srcRect t="14444" b="11709"/>
          <a:stretch/>
        </p:blipFill>
        <p:spPr>
          <a:xfrm>
            <a:off x="-101601" y="-22243"/>
            <a:ext cx="16944975" cy="457201"/>
          </a:xfrm>
          <a:prstGeom prst="rect">
            <a:avLst/>
          </a:prstGeom>
        </p:spPr>
      </p:pic>
      <p:pic>
        <p:nvPicPr>
          <p:cNvPr id="6" name="Picture 5"/>
          <p:cNvPicPr>
            <a:picLocks noChangeAspect="1"/>
          </p:cNvPicPr>
          <p:nvPr/>
        </p:nvPicPr>
        <p:blipFill>
          <a:blip r:embed="rId4"/>
          <a:stretch>
            <a:fillRect/>
          </a:stretch>
        </p:blipFill>
        <p:spPr>
          <a:xfrm>
            <a:off x="398992" y="5228247"/>
            <a:ext cx="3003556" cy="1385542"/>
          </a:xfrm>
          <a:prstGeom prst="rect">
            <a:avLst/>
          </a:prstGeom>
        </p:spPr>
      </p:pic>
      <p:pic>
        <p:nvPicPr>
          <p:cNvPr id="7" name="Picture 6"/>
          <p:cNvPicPr>
            <a:picLocks noChangeAspect="1"/>
          </p:cNvPicPr>
          <p:nvPr/>
        </p:nvPicPr>
        <p:blipFill rotWithShape="1">
          <a:blip r:embed="rId5"/>
          <a:srcRect l="546" r="1"/>
          <a:stretch/>
        </p:blipFill>
        <p:spPr>
          <a:xfrm>
            <a:off x="2307166" y="1094358"/>
            <a:ext cx="3843867" cy="1749931"/>
          </a:xfrm>
          <a:prstGeom prst="rect">
            <a:avLst/>
          </a:prstGeom>
        </p:spPr>
      </p:pic>
      <p:sp>
        <p:nvSpPr>
          <p:cNvPr id="8" name="TextBox 7"/>
          <p:cNvSpPr txBox="1"/>
          <p:nvPr/>
        </p:nvSpPr>
        <p:spPr>
          <a:xfrm>
            <a:off x="558800" y="1038993"/>
            <a:ext cx="1474250" cy="1569660"/>
          </a:xfrm>
          <a:prstGeom prst="rect">
            <a:avLst/>
          </a:prstGeom>
          <a:noFill/>
        </p:spPr>
        <p:txBody>
          <a:bodyPr wrap="none" rtlCol="0">
            <a:spAutoFit/>
          </a:bodyPr>
          <a:lstStyle/>
          <a:p>
            <a:pPr algn="ctr"/>
            <a:r>
              <a:rPr lang="en-US" sz="3200" dirty="0" smtClean="0">
                <a:solidFill>
                  <a:srgbClr val="0070C0"/>
                </a:solidFill>
              </a:rPr>
              <a:t>PUBLIC</a:t>
            </a:r>
          </a:p>
          <a:p>
            <a:pPr algn="ctr"/>
            <a:r>
              <a:rPr lang="en-US" sz="3200" dirty="0" smtClean="0">
                <a:solidFill>
                  <a:srgbClr val="0070C0"/>
                </a:solidFill>
              </a:rPr>
              <a:t>HEALTH</a:t>
            </a:r>
          </a:p>
          <a:p>
            <a:pPr algn="ctr"/>
            <a:r>
              <a:rPr lang="en-US" sz="3200" dirty="0" smtClean="0">
                <a:solidFill>
                  <a:srgbClr val="0070C0"/>
                </a:solidFill>
              </a:rPr>
              <a:t>WORKS</a:t>
            </a:r>
            <a:endParaRPr lang="en-US" sz="3200" dirty="0">
              <a:solidFill>
                <a:srgbClr val="0070C0"/>
              </a:solidFill>
            </a:endParaRPr>
          </a:p>
        </p:txBody>
      </p:sp>
      <p:sp>
        <p:nvSpPr>
          <p:cNvPr id="10" name="TextBox 9"/>
          <p:cNvSpPr txBox="1"/>
          <p:nvPr/>
        </p:nvSpPr>
        <p:spPr>
          <a:xfrm>
            <a:off x="6425148" y="1185337"/>
            <a:ext cx="4708519" cy="1384995"/>
          </a:xfrm>
          <a:prstGeom prst="rect">
            <a:avLst/>
          </a:prstGeom>
          <a:noFill/>
        </p:spPr>
        <p:txBody>
          <a:bodyPr wrap="square" rtlCol="0">
            <a:spAutoFit/>
          </a:bodyPr>
          <a:lstStyle/>
          <a:p>
            <a:pPr algn="just"/>
            <a:r>
              <a:rPr lang="en-US" sz="1200" b="1" dirty="0" smtClean="0"/>
              <a:t>De</a:t>
            </a:r>
            <a:r>
              <a:rPr lang="en-US" sz="1200" b="1" dirty="0" smtClean="0"/>
              <a:t>creases in overall mortality</a:t>
            </a:r>
            <a:r>
              <a:rPr lang="en-US" sz="1200" dirty="0" smtClean="0"/>
              <a:t> (and concomitant </a:t>
            </a:r>
            <a:r>
              <a:rPr lang="en-US" sz="1200" dirty="0" smtClean="0"/>
              <a:t>increases in life expectancy), and, have been experienced by </a:t>
            </a:r>
            <a:r>
              <a:rPr lang="en-US" sz="1200" b="1" dirty="0" smtClean="0"/>
              <a:t>all groups in California</a:t>
            </a:r>
            <a:r>
              <a:rPr lang="en-US" sz="1200" dirty="0" smtClean="0"/>
              <a:t>, including males and females, all race/ethnic groups, and in all geographic areas. These increases are do to improved medical care, and more importantly, a result of public efforts in general areas like clean water and air, healthy diets, and exercise in safe places, and specific areas like increased seat-beat use and decreased smoking. Public Health Works!</a:t>
            </a:r>
          </a:p>
        </p:txBody>
      </p:sp>
      <p:sp>
        <p:nvSpPr>
          <p:cNvPr id="11" name="TextBox 10"/>
          <p:cNvSpPr txBox="1"/>
          <p:nvPr/>
        </p:nvSpPr>
        <p:spPr>
          <a:xfrm>
            <a:off x="160865" y="3359260"/>
            <a:ext cx="2142067" cy="1384995"/>
          </a:xfrm>
          <a:prstGeom prst="rect">
            <a:avLst/>
          </a:prstGeom>
          <a:noFill/>
        </p:spPr>
        <p:txBody>
          <a:bodyPr wrap="square" rtlCol="0">
            <a:spAutoFit/>
          </a:bodyPr>
          <a:lstStyle/>
          <a:p>
            <a:pPr algn="ctr"/>
            <a:r>
              <a:rPr lang="en-US" sz="2800" dirty="0" smtClean="0">
                <a:solidFill>
                  <a:srgbClr val="0070C0"/>
                </a:solidFill>
              </a:rPr>
              <a:t>AND MUCH MORE NEEDS TO BE DONE</a:t>
            </a:r>
            <a:endParaRPr lang="en-US" sz="2800" dirty="0">
              <a:solidFill>
                <a:srgbClr val="0070C0"/>
              </a:solidFill>
            </a:endParaRPr>
          </a:p>
        </p:txBody>
      </p:sp>
      <p:sp>
        <p:nvSpPr>
          <p:cNvPr id="12" name="TextBox 11"/>
          <p:cNvSpPr txBox="1"/>
          <p:nvPr/>
        </p:nvSpPr>
        <p:spPr>
          <a:xfrm>
            <a:off x="6899282" y="3196867"/>
            <a:ext cx="4708519" cy="1569660"/>
          </a:xfrm>
          <a:prstGeom prst="rect">
            <a:avLst/>
          </a:prstGeom>
          <a:noFill/>
        </p:spPr>
        <p:txBody>
          <a:bodyPr wrap="square" rtlCol="0">
            <a:spAutoFit/>
          </a:bodyPr>
          <a:lstStyle/>
          <a:p>
            <a:pPr algn="just"/>
            <a:r>
              <a:rPr lang="en-US" sz="1200" dirty="0" smtClean="0"/>
              <a:t>While great progress has been made, </a:t>
            </a:r>
            <a:r>
              <a:rPr lang="en-US" sz="1200" b="1" dirty="0" smtClean="0"/>
              <a:t>some causes of disease and death are increasing in California</a:t>
            </a:r>
            <a:r>
              <a:rPr lang="en-US" sz="1200" dirty="0" smtClean="0"/>
              <a:t>, like Alzheimer’s disease, kidney disease, and deaths from opioids.  Furthermore, even with overall progress, for many conditions, there are </a:t>
            </a:r>
            <a:r>
              <a:rPr lang="en-US" sz="1200" b="1" dirty="0" smtClean="0"/>
              <a:t>large and unacceptable disparities </a:t>
            </a:r>
            <a:r>
              <a:rPr lang="en-US" sz="1200" dirty="0" smtClean="0"/>
              <a:t>between groups, especially between racial/ethnic groups.  Eliminating these disparities requires sustained work using core public health tools, and, importantly requires broad collaborative efforts to address the Social Determinants of Health, like education, income/wealth, and racism.</a:t>
            </a:r>
          </a:p>
        </p:txBody>
      </p:sp>
      <p:sp>
        <p:nvSpPr>
          <p:cNvPr id="14" name="TextBox 13"/>
          <p:cNvSpPr txBox="1"/>
          <p:nvPr/>
        </p:nvSpPr>
        <p:spPr>
          <a:xfrm>
            <a:off x="3563414" y="5228247"/>
            <a:ext cx="4708519" cy="1200329"/>
          </a:xfrm>
          <a:prstGeom prst="rect">
            <a:avLst/>
          </a:prstGeom>
          <a:noFill/>
        </p:spPr>
        <p:txBody>
          <a:bodyPr wrap="square" rtlCol="0">
            <a:spAutoFit/>
          </a:bodyPr>
          <a:lstStyle/>
          <a:p>
            <a:pPr algn="just"/>
            <a:r>
              <a:rPr lang="en-US" sz="1200" dirty="0" smtClean="0"/>
              <a:t>The California Community Burden of Disease and Cost Engine, is a </a:t>
            </a:r>
            <a:r>
              <a:rPr lang="en-US" sz="1200" b="1" dirty="0" smtClean="0"/>
              <a:t>tool to provide information</a:t>
            </a:r>
            <a:r>
              <a:rPr lang="en-US" sz="1200" dirty="0" smtClean="0"/>
              <a:t> needed to sustain and improve Public Health efforts. The tools provides data on detailed causes of deaths and hospitalizations, for California counties and communities, over many years. The tool provides maps, trends and ranking charts to answer many questions, and to generate and explore hypotheses</a:t>
            </a:r>
          </a:p>
        </p:txBody>
      </p:sp>
      <p:pic>
        <p:nvPicPr>
          <p:cNvPr id="15" name="Picture 1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598560" y="19834"/>
            <a:ext cx="1070214" cy="895884"/>
          </a:xfrm>
          <a:prstGeom prst="rect">
            <a:avLst/>
          </a:prstGeom>
        </p:spPr>
      </p:pic>
      <p:pic>
        <p:nvPicPr>
          <p:cNvPr id="16" name="Picture 15"/>
          <p:cNvPicPr>
            <a:picLocks noChangeAspect="1"/>
          </p:cNvPicPr>
          <p:nvPr/>
        </p:nvPicPr>
        <p:blipFill rotWithShape="1">
          <a:blip r:embed="rId7"/>
          <a:srcRect l="526" t="4341" r="1"/>
          <a:stretch/>
        </p:blipFill>
        <p:spPr>
          <a:xfrm>
            <a:off x="2374484" y="3291059"/>
            <a:ext cx="4418326" cy="1493987"/>
          </a:xfrm>
          <a:prstGeom prst="rect">
            <a:avLst/>
          </a:prstGeom>
        </p:spPr>
      </p:pic>
      <p:sp>
        <p:nvSpPr>
          <p:cNvPr id="18" name="TextBox 17"/>
          <p:cNvSpPr txBox="1"/>
          <p:nvPr/>
        </p:nvSpPr>
        <p:spPr>
          <a:xfrm>
            <a:off x="9050341" y="5505245"/>
            <a:ext cx="2701392" cy="646331"/>
          </a:xfrm>
          <a:prstGeom prst="rect">
            <a:avLst/>
          </a:prstGeom>
          <a:solidFill>
            <a:schemeClr val="accent1">
              <a:lumMod val="20000"/>
              <a:lumOff val="80000"/>
            </a:schemeClr>
          </a:solidFill>
          <a:ln>
            <a:solidFill>
              <a:schemeClr val="tx1">
                <a:lumMod val="65000"/>
                <a:lumOff val="35000"/>
              </a:schemeClr>
            </a:solidFill>
          </a:ln>
        </p:spPr>
        <p:txBody>
          <a:bodyPr wrap="square" rtlCol="0">
            <a:spAutoFit/>
          </a:bodyPr>
          <a:lstStyle/>
          <a:p>
            <a:pPr algn="ctr"/>
            <a:r>
              <a:rPr lang="en-US" dirty="0" smtClean="0"/>
              <a:t>More information on how to use the tool</a:t>
            </a:r>
            <a:endParaRPr lang="en-US" dirty="0"/>
          </a:p>
        </p:txBody>
      </p:sp>
      <p:cxnSp>
        <p:nvCxnSpPr>
          <p:cNvPr id="20" name="Straight Connector 19"/>
          <p:cNvCxnSpPr/>
          <p:nvPr/>
        </p:nvCxnSpPr>
        <p:spPr>
          <a:xfrm flipV="1">
            <a:off x="160865" y="3039533"/>
            <a:ext cx="11650135" cy="846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160865" y="5002413"/>
            <a:ext cx="11650135" cy="8467"/>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12766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264</Words>
  <Application>Microsoft Office PowerPoint</Application>
  <PresentationFormat>Widescreen</PresentationFormat>
  <Paragraphs>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CDPH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Samuel, Michael@CDPH</dc:creator>
  <cp:lastModifiedBy>Samuel, Michael@CDPH</cp:lastModifiedBy>
  <cp:revision>7</cp:revision>
  <dcterms:created xsi:type="dcterms:W3CDTF">2020-01-22T22:39:20Z</dcterms:created>
  <dcterms:modified xsi:type="dcterms:W3CDTF">2020-01-22T23:23:52Z</dcterms:modified>
</cp:coreProperties>
</file>